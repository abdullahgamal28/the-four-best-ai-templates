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Cairo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879e681e-8a2d-461a-acce-1ef245d148a0.fntdata" /><ns0:Relationship Id="rIdFont14" Type="http://schemas.openxmlformats.org/officeDocument/2006/relationships/font" Target="fonts/d00d4679-a689-4262-9e88-1754510484e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96600" y="473958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3150" y="2080319"/>
            <a:ext cx="1543050" cy="3429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33700" y="2575619"/>
            <a:ext cx="910113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Cairo"/>
              </a:rPr>
              <a:t>مقارنة تفصيلية لأفضل 4 أدوات ونماذج لكشف التلاعب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2450" y="382518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Cairo"/>
              </a:rPr>
              <a:t>دراسة مقارنة متعمقة للمزايا والعيوب ومجالات التفوق بين (VeriMedia، TruFor، AIDE، Amped Authenticate).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0" y="213746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Cairo"/>
              </a:rPr>
              <a:t>التحليل الجنائي المتقدم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6725" y="2127944"/>
            <a:ext cx="18573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Cairo"/>
              </a:rPr>
              <a:t>تصفية وتحليل النماذج المتقدمة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3400"/>
            <a:ext cx="1895475" cy="3619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43975" y="1657350"/>
            <a:ext cx="2562225" cy="4667250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657350"/>
            <a:ext cx="2562225" cy="4667250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38525" y="1657350"/>
            <a:ext cx="2562225" cy="4667250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57350"/>
            <a:ext cx="2562225" cy="4667250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2775" y="295572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050" y="2955726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3077616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077616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1837" y="3089076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400" y="3089076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675" y="3210966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4137" y="3210966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72300" y="533400"/>
            <a:ext cx="462915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Cairo"/>
              </a:rPr>
              <a:t>معايير الاختيار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590550"/>
            <a:ext cx="1724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Cairo"/>
              </a:rPr>
              <a:t>النخبة من بين النماذج العالمية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857250"/>
            <a:ext cx="486060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airo"/>
              </a:rPr>
              <a:t>لماذا تم اختيار هذه الأربعة تحديداً؟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03426"/>
            <a:ext cx="221027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VeriMedia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51101"/>
            <a:ext cx="210502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منصة هجينة تدمج التوثيق التشفيري بختم SHA-256 والتقارير القانونية مع الفحص الذكي.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3603426"/>
            <a:ext cx="221027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TruFor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4051101"/>
            <a:ext cx="210502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المعيار الذهبي في التحديد المكاني للبكسلات التالفة عبر خريطة الموثوقية (Reliability Map).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750" y="3725316"/>
            <a:ext cx="221027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AIDE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172991"/>
            <a:ext cx="21050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الأحدث في كشف التوليد الهجين عبر دمج خصائص CLIP والتحليل الترددي المتقدم.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3725316"/>
            <a:ext cx="221027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Amped Authenticate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4172991"/>
            <a:ext cx="21050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الأداة المعتمدة رسمياً في المحاكم الجنائية لفحص الفيزياء الرقمية وبصمة الكاميرا (PRNU).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1333500"/>
            <a:ext cx="5257800" cy="4991100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333500"/>
            <a:ext cx="5257800" cy="4991100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62725" y="5257800"/>
            <a:ext cx="46291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0125" y="5257800"/>
            <a:ext cx="46291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5257800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5257800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62725" y="1709737"/>
            <a:ext cx="1333500" cy="304800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0125" y="1709737"/>
            <a:ext cx="1476375" cy="304800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486400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486400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2943225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43225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33400"/>
            <a:ext cx="1146143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airo"/>
              </a:rPr>
              <a:t>مقارنة تفصيلية: VeriMedia مقابل TruFor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22885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دمج ذكي بين آليات الذكاء الاصطناعي (XAI) وتوثيق التوقيع الرقمي وتقارير المحاكم السريعة.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5419725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Cairo"/>
              </a:rPr>
              <a:t>العيوب والقيود: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734050"/>
            <a:ext cx="4724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تتطلب موارد حسابية عالية عند تفعيل المعالجة المتوازية الضخمة.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22885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نموذج متقدم يعتمد على خرائط الموثوقية لاكتشاف التلاعب الجزئي والدمج بدقة متناهية.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19725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Cairo"/>
              </a:rPr>
              <a:t>العيوب والقيود: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5734050"/>
            <a:ext cx="4724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حساسة جداً للصور عالية الضغط أو الملفات المكررة عبر منصات التواصل.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2225" y="1647825"/>
            <a:ext cx="116014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D4ED8"/>
                </a:solidFill>
                <a:latin typeface="Cairo"/>
              </a:rPr>
              <a:t>VeriMedia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1747837"/>
            <a:ext cx="1200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Cairo"/>
              </a:rPr>
              <a:t>منصة هجينة متكاملة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876550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Cairo"/>
              </a:rPr>
              <a:t>المزايا المحورية: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1100" y="1647825"/>
            <a:ext cx="770096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Cairo"/>
              </a:rPr>
              <a:t>TruFor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425" y="1747837"/>
            <a:ext cx="1343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Cairo"/>
              </a:rPr>
              <a:t>توطين البكسلات الدقيق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2876550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Cairo"/>
              </a:rPr>
              <a:t>المزايا المحورية: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320802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3062" y="320992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توليد تقارير PDF قانونية معتمدة بختم SHA-256.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345180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3062" y="345370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دمج تفسيرات الذكاء الاصطناعي القابلة للتفسير (Grad-CAM).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320802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09537" y="320992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خريطة موثوقية (Reliability Map) تحدد مناطق التلاعب بكسلياً.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925" y="345180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109537" y="345370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كفاءة عالية في كشف التعديلات الخفية (Inpainting).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1333500"/>
            <a:ext cx="5257800" cy="4991100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333500"/>
            <a:ext cx="5257800" cy="4991100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62725" y="5257800"/>
            <a:ext cx="46291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0125" y="5257800"/>
            <a:ext cx="46291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5257800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5257800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62725" y="1709737"/>
            <a:ext cx="1295400" cy="304800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0125" y="1709737"/>
            <a:ext cx="1485900" cy="3048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486400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486400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2943225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43225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33400"/>
            <a:ext cx="1146143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airo"/>
              </a:rPr>
              <a:t>مقارنة تفصيلية: AIDE مقابل Amped Authenticate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22885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أداة حديثة مصممة خصيصاً لرصد الصور الناتجة عن أحدث نماذج الانتشار والذكاء الاصطناعي التوليدي.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5419725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Cairo"/>
              </a:rPr>
              <a:t>العيوب والقيود: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734050"/>
            <a:ext cx="4724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تحتاج إلى قدرة حسابية وقواعد بيانات ضخمة لمواكبة المولدات الحديثة.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22885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النظام العالمي الرائد للتحقيق الجنائي الرقمي والفيزياء الرقمية وبصمات الاستشعار (PRNU).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19725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Cairo"/>
              </a:rPr>
              <a:t>العيوب والقيود: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5734050"/>
            <a:ext cx="47244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تكلفتها باهظة وتتطلب خبيراً بشرياً متخصصاً لتفسير النتائج.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5625" y="1647825"/>
            <a:ext cx="600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B2777"/>
                </a:solidFill>
                <a:latin typeface="Cairo"/>
              </a:rPr>
              <a:t>AIDE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1747837"/>
            <a:ext cx="1162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E185D"/>
                </a:solidFill>
                <a:latin typeface="Cairo"/>
              </a:rPr>
              <a:t>كشف التوليد الهجين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876550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Cairo"/>
              </a:rPr>
              <a:t>المزايا المحورية: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1875" y="1647825"/>
            <a:ext cx="226028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Cairo"/>
              </a:rPr>
              <a:t>Amped Authenticate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425" y="1747837"/>
            <a:ext cx="1352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Cairo"/>
              </a:rPr>
              <a:t>معتمد للمحاكم الرسمية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2876550"/>
            <a:ext cx="4724400" cy="2762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Cairo"/>
              </a:rPr>
              <a:t>المزايا المحورية: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320802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3062" y="320992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دمج خصائص CLIP مع التحليل الترددي المتقدم.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345180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7475" y="3453705"/>
            <a:ext cx="4533900" cy="48756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قدرة فائقة على كشف الصور المولدة بالكامل من Midjourney و DALL-E.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320802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09537" y="320992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فحص فيزيائي عميق لبصمة الكاميرا الأصلية (PRNU).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925" y="3451800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109537" y="3453705"/>
            <a:ext cx="5548312" cy="24378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Cairo"/>
              </a:rPr>
              <a:t>مقبول رسمياً وقانونياً في المحاكم الجنائية الدولية.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295525"/>
            <a:ext cx="10820400" cy="76200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09925"/>
            <a:ext cx="10820400" cy="76200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24325"/>
            <a:ext cx="10820400" cy="762000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038725"/>
            <a:ext cx="10820400" cy="762000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0" y="2495550"/>
            <a:ext cx="1743075" cy="361950"/>
          </a:xfrm>
          <a:prstGeom prst="roundRect">
            <a:avLst>
              <a:gd name="adj" fmla="val 21052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4975" y="3409950"/>
            <a:ext cx="1943100" cy="361950"/>
          </a:xfrm>
          <a:prstGeom prst="roundRect">
            <a:avLst>
              <a:gd name="adj" fmla="val 2105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4975" y="4324350"/>
            <a:ext cx="1943100" cy="361950"/>
          </a:xfrm>
          <a:prstGeom prst="roundRect">
            <a:avLst>
              <a:gd name="adj" fmla="val 21052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82125" y="5238750"/>
            <a:ext cx="1885950" cy="361950"/>
          </a:xfrm>
          <a:prstGeom prst="roundRect">
            <a:avLst>
              <a:gd name="adj" fmla="val 21052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3400"/>
            <a:ext cx="1146143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airo"/>
              </a:rPr>
              <a:t>مصفوفة التكامل الاستراتيجي للمنظومة المثلى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257300"/>
            <a:ext cx="10915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Cairo"/>
              </a:rPr>
              <a:t>كيف تتكامل هذه النماذج الأربعة لتقديم منصة حماية موثوقة وقانونية: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533650"/>
            <a:ext cx="53244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66534"/>
                </a:solidFill>
                <a:latin typeface="Cairo"/>
              </a:rPr>
              <a:t>فحص الخصائص الترددية والدلالية لمعرفة هل الصورة مولدة بالذكاء الاصطناعي أم لا.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448050"/>
            <a:ext cx="5019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40AF"/>
                </a:solidFill>
                <a:latin typeface="Cairo"/>
              </a:rPr>
              <a:t>توليد خريطة الموثوقية الدقيقة لتحديد أجزاء التلاعب والقص والدمج داخل الصورة.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36245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854D0E"/>
                </a:solidFill>
                <a:latin typeface="Cairo"/>
              </a:rPr>
              <a:t>فحص البصمة الفيزيائية للكاميرا (PRNU) للتحقق من أصلية المستند في القضايا الحساسة.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5276850"/>
            <a:ext cx="5200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B21A8"/>
                </a:solidFill>
                <a:latin typeface="Cairo"/>
              </a:rPr>
              <a:t>جمع نواتج النماذج السابقة، وإصدار تقرير PDF مشفر بختم SHA-256 ومقبول قانونياً.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8350" y="2552700"/>
            <a:ext cx="15716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Cairo"/>
              </a:rPr>
              <a:t>الخط الأول (الكشف العام)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6300" y="2519362"/>
            <a:ext cx="102012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Cairo"/>
              </a:rPr>
              <a:t>نموذج AIDE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8325" y="346710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Cairo"/>
              </a:rPr>
              <a:t>الخط الثاني (التحديد المكاني)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3433762"/>
            <a:ext cx="112014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Cairo"/>
              </a:rPr>
              <a:t>نموذج TruFor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8325" y="4381500"/>
            <a:ext cx="17716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Cairo"/>
              </a:rPr>
              <a:t>الخط الثالث (التحقيق الجنائي)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7150" y="4348162"/>
            <a:ext cx="167020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13F12"/>
                </a:solidFill>
                <a:latin typeface="Cairo"/>
              </a:rPr>
              <a:t>Amped Authenticate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5475" y="529590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Cairo"/>
              </a:rPr>
              <a:t>الخط الرابع (الإدارة والتوثيق)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9100" y="5262562"/>
            <a:ext cx="135016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81C87"/>
                </a:solidFill>
                <a:latin typeface="Cairo"/>
              </a:rPr>
              <a:t>منصة VeriMedia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10125" y="4471987"/>
            <a:ext cx="2571750" cy="533400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526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024062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9342" y="2690812"/>
            <a:ext cx="6513314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Cairo"/>
              </a:rPr>
              <a:t>الخلاصة: التكامل لا الاستبدال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557587"/>
            <a:ext cx="8334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Cairo"/>
              </a:rPr>
              <a:t>الاعتماد على أداة واحدة لم يعد كافياً في مواجهة تطور التزييف الرقمي. دمج </a:t>
            </a:r>
            <a:r>
              <a:rPr b="1" sz="1500" i="0" u="none">
                <a:solidFill>
                  <a:srgbClr val="94A3B8"/>
                </a:solidFill>
                <a:latin typeface="Cairo"/>
              </a:rPr>
              <a:t>VeriMedia</a:t>
            </a:r>
            <a:r>
              <a:rPr b="0" sz="1500" i="0" u="none">
                <a:solidFill>
                  <a:srgbClr val="94A3B8"/>
                </a:solidFill>
                <a:latin typeface="Cairo"/>
              </a:rPr>
              <a:t> مع </a:t>
            </a:r>
            <a:r>
              <a:rPr b="1" sz="1500" i="0" u="none">
                <a:solidFill>
                  <a:srgbClr val="94A3B8"/>
                </a:solidFill>
                <a:latin typeface="Cairo"/>
              </a:rPr>
              <a:t>TruFor</a:t>
            </a:r>
            <a:r>
              <a:rPr b="0" sz="1500" i="0" u="none">
                <a:solidFill>
                  <a:srgbClr val="94A3B8"/>
                </a:solidFill>
                <a:latin typeface="Cairo"/>
              </a:rPr>
              <a:t> و </a:t>
            </a:r>
            <a:r>
              <a:rPr b="1" sz="1500" i="0" u="none">
                <a:solidFill>
                  <a:srgbClr val="94A3B8"/>
                </a:solidFill>
                <a:latin typeface="Cairo"/>
              </a:rPr>
              <a:t>AIDE</a:t>
            </a:r>
            <a:r>
              <a:rPr b="0" sz="1500" i="0" u="none">
                <a:solidFill>
                  <a:srgbClr val="94A3B8"/>
                </a:solidFill>
                <a:latin typeface="Cairo"/>
              </a:rPr>
              <a:t> و </a:t>
            </a:r>
            <a:r>
              <a:rPr b="1" sz="1500" i="0" u="none">
                <a:solidFill>
                  <a:srgbClr val="94A3B8"/>
                </a:solidFill>
                <a:latin typeface="Cairo"/>
              </a:rPr>
              <a:t>Amped</a:t>
            </a:r>
            <a:r>
              <a:rPr b="0" sz="1500" i="0" u="none">
                <a:solidFill>
                  <a:srgbClr val="94A3B8"/>
                </a:solidFill>
                <a:latin typeface="Cairo"/>
              </a:rPr>
              <a:t> يمثل الحل الأمثل عالمياً.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5356" y="4586287"/>
            <a:ext cx="26812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2E8F0"/>
                </a:solidFill>
                <a:latin typeface="Cairo"/>
              </a:rPr>
              <a:t>VeriMedia Forensic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